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- 88020_P2_HMP_EOM_JAA.pdf (archivo proporcionado por el usuario)
- 88020_P1_HMP_EOM_JAA_PRESENTACION_CORREGIDA (2).pptx (referencia visual proporcionada por el usuario)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- 88020_P2_HMP_EOM_JAA.pdf (archivo proporcionado por el usuario)
- 88020_P1_HMP_EOM_JAA_PRESENTACION_CORREGIDA (2).pptx (referencia visual proporcionada por el usuario)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- 88020_P2_HMP_EOM_JAA.pdf (archivo proporcionado por el usuario)
- 88020_P1_HMP_EOM_JAA_PRESENTACION_CORREGIDA (2).pptx (referencia visual proporcionada por el usuario)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- 88020_P2_HMP_EOM_JAA.pdf (archivo proporcionado por el usuario)
- 88020_P1_HMP_EOM_JAA_PRESENTACION_CORREGIDA (2).pptx (referencia visual proporcionada por el usuario)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- 88020_P2_HMP_EOM_JAA.pdf (archivo proporcionado por el usuario)
- 88020_P1_HMP_EOM_JAA_PRESENTACION_CORREGIDA (2).pptx (referencia visual proporcionada por el usuario)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- 88020_P2_HMP_EOM_JAA.pdf (archivo proporcionado por el usuario)
- 88020_P1_HMP_EOM_JAA_PRESENTACION_CORREGIDA (2).pptx (referencia visual proporcionada por el usuario)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- 88020_P2_HMP_EOM_JAA.pdf (archivo proporcionado por el usuario)
- 88020_P1_HMP_EOM_JAA_PRESENTACION_CORREGIDA (2).pptx (referencia visual proporcionada por el usuario)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- 88020_P2_HMP_EOM_JAA.pdf (archivo proporcionado por el usuario)
- 88020_P1_HMP_EOM_JAA_PRESENTACION_CORREGIDA (2).pptx (referencia visual proporcionada por el usuario)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- 88020_P2_HMP_EOM_JAA.pdf (archivo proporcionado por el usuario)
- 88020_P1_HMP_EOM_JAA_PRESENTACION_CORREGIDA (2).pptx (referencia visual proporcionada por el usuario)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- 88020_P2_HMP_EOM_JAA.pdf (archivo proporcionado por el usuario)
- 88020_P1_HMP_EOM_JAA_PRESENTACION_CORREGIDA (2).pptx (referencia visual proporcionada por el usuario)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- 88020_P2_HMP_EOM_JAA.pdf (archivo proporcionado por el usuario)
- 88020_P1_HMP_EOM_JAA_PRESENTACION_CORREGIDA (2).pptx (referencia visual proporcionada por el usuario)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- 88020_P2_HMP_EOM_JAA.pdf (archivo proporcionado por el usuario)
- 88020_P1_HMP_EOM_JAA_PRESENTACION_CORREGIDA (2).pptx (referencia visual proporcionada por el usuario)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- 88020_P2_HMP_EOM_JAA.pdf (archivo proporcionado por el usuario)
- 88020_P1_HMP_EOM_JAA_PRESENTACION_CORREGIDA (2).pptx (referencia visual proporcionada por el usuario)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6858000"/>
          </a:xfrm>
          <a:prstGeom prst="rect">
            <a:avLst/>
          </a:prstGeom>
          <a:solidFill>
            <a:srgbClr val="891146"/>
          </a:solidFill>
          <a:ln w="12700">
            <a:solidFill>
              <a:srgbClr val="8911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38912" y="96012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SISTEMA DE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ARCHIVOS,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USUARIOS Y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PERMISOS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3794760"/>
            <a:ext cx="196596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6192D"/>
                </a:solidFill>
              </a:rPr>
              <a:t>PRÁCTICA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0" y="10972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6192D"/>
                </a:solidFill>
              </a:rPr>
              <a:t>Administración y Servicios de Sistemas Operativos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3657600" y="1810512"/>
            <a:ext cx="6812280" cy="1"/>
          </a:xfrm>
          <a:prstGeom prst="line">
            <a:avLst/>
          </a:prstGeom>
          <a:noFill/>
          <a:ln w="16510">
            <a:solidFill>
              <a:srgbClr val="89114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57600" y="21031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67078"/>
                </a:solidFill>
              </a:rPr>
              <a:t>AURORA Aerospace · Proyecto AURORA-6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657600" y="324612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50" b="1">
                <a:solidFill>
                  <a:srgbClr val="46192D"/>
                </a:solidFill>
              </a:rPr>
              <a:t>Hugo Muñoz Pérez · Compras y configuración</a:t>
            </a:r>
            <a:endParaRPr lang="en-US" sz="1350" dirty="0"/>
          </a:p>
          <a:p>
            <a:r>
              <a:rPr sz="1350" b="1">
                <a:solidFill>
                  <a:srgbClr val="46192D"/>
                </a:solidFill>
              </a:rPr>
              <a:t>Jaime Alonso Amador · Mecánica</a:t>
            </a:r>
          </a:p>
          <a:p>
            <a:r>
              <a:rPr sz="1350" b="1">
                <a:solidFill>
                  <a:srgbClr val="46192D"/>
                </a:solidFill>
              </a:rPr>
              <a:t>Eduardo Ontiveros Martínez · Aviónica y software</a:t>
            </a:r>
          </a:p>
        </p:txBody>
      </p:sp>
      <p:sp>
        <p:nvSpPr>
          <p:cNvPr id="9" name="Text 7"/>
          <p:cNvSpPr/>
          <p:nvPr/>
        </p:nvSpPr>
        <p:spPr>
          <a:xfrm>
            <a:off x="8229600" y="32461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>
                <a:solidFill>
                  <a:srgbClr val="667078"/>
                </a:solidFill>
              </a:rPr>
              <a:t>Identificación: 88020_P2_HMP_JAA_EOM</a:t>
            </a:r>
            <a:endParaRPr lang="en-US" sz="1050" dirty="0"/>
          </a:p>
        </p:txBody>
      </p:sp>
      <p:pic>
        <p:nvPicPr>
          <p:cNvPr id="10" name="Image 0" descr="/mnt/data/p2_work/p2_image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8140" y="5120640"/>
            <a:ext cx="260604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658368" cy="530352"/>
          </a:xfrm>
          <a:prstGeom prst="rect">
            <a:avLst/>
          </a:prstGeom>
          <a:solidFill>
            <a:srgbClr val="891146"/>
          </a:solidFill>
          <a:ln w="12700">
            <a:solidFill>
              <a:srgbClr val="8911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389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25880" y="30175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891146"/>
                </a:solidFill>
              </a:rPr>
              <a:t>Objetivo y organización del trabajo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53312" y="713232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46192D"/>
                </a:solidFill>
              </a:rPr>
              <a:t>ADMINISTRACIÓN DEL SISTEMA MEDIANTE TERMINAL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25880" y="960120"/>
            <a:ext cx="9646920" cy="1"/>
          </a:xfrm>
          <a:prstGeom prst="line">
            <a:avLst/>
          </a:prstGeom>
          <a:noFill/>
          <a:ln w="12700">
            <a:solidFill>
              <a:srgbClr val="D6CA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0352" y="63367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91146"/>
                </a:solidFill>
              </a:rPr>
              <a:t>P2.1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469880" y="618134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1146"/>
                </a:solidFill>
              </a:rPr>
              <a:t>UCJC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55480" y="638251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46192D"/>
                </a:solidFill>
              </a:rPr>
              <a:t>Universidad Camilo José Cela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22960" y="1325880"/>
            <a:ext cx="5486400" cy="3017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46192D"/>
                </a:solidFill>
              </a:rPr>
              <a:t>Crear la estructura de trabajo AURORA-6 en /srv.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46192D"/>
                </a:solidFill>
              </a:rPr>
              <a:t>Definir usuarios, grupos y responsabilidades departamentales.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46192D"/>
                </a:solidFill>
              </a:rPr>
              <a:t>Aplicar permisos tradicionales DAC y listas ACL.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46192D"/>
                </a:solidFill>
              </a:rPr>
              <a:t>Validar los accesos con las cuentas A, B y C sin sudo.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46192D"/>
                </a:solidFill>
              </a:rPr>
              <a:t>Registrar incidencias reales y las correcciones realizadas.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01968" y="1207008"/>
            <a:ext cx="4992624" cy="3392424"/>
          </a:xfrm>
          <a:prstGeom prst="rect">
            <a:avLst/>
          </a:prstGeom>
          <a:solidFill>
            <a:srgbClr val="FFFFFF"/>
          </a:solidFill>
          <a:ln w="10160">
            <a:solidFill>
              <a:srgbClr val="C9CDD1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2" name="Image 0" descr="/mnt/data/p2_work/p2_images/img-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247264"/>
            <a:ext cx="4937760" cy="33119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629400" y="46177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7078"/>
                </a:solidFill>
              </a:rPr>
              <a:t>Participantes y alcance del proyecto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1371600" y="4892040"/>
            <a:ext cx="950976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891146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536192" y="5001768"/>
            <a:ext cx="9180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91146"/>
                </a:solidFill>
              </a:rPr>
              <a:t>Principio general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536192" y="5276088"/>
            <a:ext cx="9180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6192D"/>
                </a:solidFill>
              </a:rPr>
              <a:t>Mínimo privilegio: escritura solo en el departamento propio, lectura limitada en recursos ajenos y bloqueo de las zonas restringidas.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658368" cy="530352"/>
          </a:xfrm>
          <a:prstGeom prst="rect">
            <a:avLst/>
          </a:prstGeom>
          <a:solidFill>
            <a:srgbClr val="891146"/>
          </a:solidFill>
          <a:ln w="12700">
            <a:solidFill>
              <a:srgbClr val="8911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389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25880" y="30175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891146"/>
                </a:solidFill>
              </a:rPr>
              <a:t>Primer acceso e identificación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53312" y="713232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46192D"/>
                </a:solidFill>
              </a:rPr>
              <a:t>SERVIDOR, CUENTA ADMINISTRATIVA Y USO DE SUDO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25880" y="960120"/>
            <a:ext cx="9646920" cy="1"/>
          </a:xfrm>
          <a:prstGeom prst="line">
            <a:avLst/>
          </a:prstGeom>
          <a:noFill/>
          <a:ln w="12700">
            <a:solidFill>
              <a:srgbClr val="D6CA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0352" y="63367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91146"/>
                </a:solidFill>
              </a:rPr>
              <a:t>P2.1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469880" y="618134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1146"/>
                </a:solidFill>
              </a:rPr>
              <a:t>UCJC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55480" y="638251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46192D"/>
                </a:solidFill>
              </a:rPr>
              <a:t>Universidad Camilo José Cela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22960" y="1417320"/>
            <a:ext cx="5623560" cy="3108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46192D"/>
                </a:solidFill>
              </a:rPr>
              <a:t>Servidor: server-assio-03.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46192D"/>
                </a:solidFill>
              </a:rPr>
              <a:t>Cuenta administrativa: grupo3.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46192D"/>
                </a:solidFill>
              </a:rPr>
              <a:t>Comandos de comprobación: whoami, hostname, pwd y ls -ld.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46192D"/>
                </a:solidFill>
              </a:rPr>
              <a:t>Las tareas administrativas se realizan con sudo.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46192D"/>
                </a:solidFill>
              </a:rPr>
              <a:t>Las pruebas de permisos se ejecutan con cuentas sin privilegios.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12280" y="1508760"/>
            <a:ext cx="438912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A5484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976872" y="161848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48"/>
                </a:solidFill>
              </a:rPr>
              <a:t>Por qué no trabajar como root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76872" y="1892808"/>
            <a:ext cx="40599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6192D"/>
                </a:solidFill>
              </a:rPr>
              <a:t>Root puede modificar cualquier archivo y falsearía las pruebas. Usar cuentas normales permite demostrar los permisos efectivos de cada rol.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12280" y="3246120"/>
            <a:ext cx="438912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2F866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976872" y="335584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8663"/>
                </a:solidFill>
              </a:rPr>
              <a:t>Objetivo de las comprobaciones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976872" y="3630168"/>
            <a:ext cx="40599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6192D"/>
                </a:solidFill>
              </a:rPr>
              <a:t>Confirmar identidad, grupo, ubicación y permisos antes de modificar la infraestructura.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658368" cy="530352"/>
          </a:xfrm>
          <a:prstGeom prst="rect">
            <a:avLst/>
          </a:prstGeom>
          <a:solidFill>
            <a:srgbClr val="891146"/>
          </a:solidFill>
          <a:ln w="12700">
            <a:solidFill>
              <a:srgbClr val="8911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389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25880" y="30175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891146"/>
                </a:solidFill>
              </a:rPr>
              <a:t>Estructura de directorios AURORA-6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53312" y="713232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46192D"/>
                </a:solidFill>
              </a:rPr>
              <a:t>CREACIÓN, CORRECCIÓN Y COMPROBACIÓN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25880" y="960120"/>
            <a:ext cx="9646920" cy="1"/>
          </a:xfrm>
          <a:prstGeom prst="line">
            <a:avLst/>
          </a:prstGeom>
          <a:noFill/>
          <a:ln w="12700">
            <a:solidFill>
              <a:srgbClr val="D6CA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0352" y="63367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91146"/>
                </a:solidFill>
              </a:rPr>
              <a:t>P2.1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469880" y="618134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1146"/>
                </a:solidFill>
              </a:rPr>
              <a:t>UCJC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55480" y="638251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46192D"/>
                </a:solidFill>
              </a:rPr>
              <a:t>Universidad Camilo José Cela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749808" y="1207008"/>
            <a:ext cx="6638544" cy="3346704"/>
          </a:xfrm>
          <a:prstGeom prst="rect">
            <a:avLst/>
          </a:prstGeom>
          <a:solidFill>
            <a:srgbClr val="FFFFFF"/>
          </a:solidFill>
          <a:ln w="10160">
            <a:solidFill>
              <a:srgbClr val="C9CDD1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1" name="Image 0" descr="/mnt/data/p2_work/p2_images/img-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13253"/>
            <a:ext cx="6583680" cy="233421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457200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7078"/>
                </a:solidFill>
              </a:rPr>
              <a:t>Árbol final de /srv/aurora6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726680" y="1417320"/>
            <a:ext cx="3474720" cy="2834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46192D"/>
                </a:solidFill>
              </a:rPr>
              <a:t>Ingeniería: mecánica, aviónica y software.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46192D"/>
                </a:solidFill>
              </a:rPr>
              <a:t>Compras: proveedores y pedidos.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46192D"/>
                </a:solidFill>
              </a:rPr>
              <a:t>Contabilidad: facturas.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46192D"/>
                </a:solidFill>
              </a:rPr>
              <a:t>Documentación común, confidencial e intercambio.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46192D"/>
                </a:solidFill>
              </a:rPr>
              <a:t>El árbol final contiene 17 directorios.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143000" y="4983480"/>
            <a:ext cx="969264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B47A1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07592" y="5093208"/>
            <a:ext cx="9363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7A1F"/>
                </a:solidFill>
              </a:rPr>
              <a:t>Corrección realizada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307592" y="5367528"/>
            <a:ext cx="9363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6192D"/>
                </a:solidFill>
              </a:rPr>
              <a:t>La estructura se creó inicialmente como /srv/aurora y se renombró a /srv/aurora6 con mv, conservando el trabajo ya realizado.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658368" cy="530352"/>
          </a:xfrm>
          <a:prstGeom prst="rect">
            <a:avLst/>
          </a:prstGeom>
          <a:solidFill>
            <a:srgbClr val="891146"/>
          </a:solidFill>
          <a:ln w="12700">
            <a:solidFill>
              <a:srgbClr val="8911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389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25880" y="30175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891146"/>
                </a:solidFill>
              </a:rPr>
              <a:t>Usuarios, grupos y roles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53312" y="713232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46192D"/>
                </a:solidFill>
              </a:rPr>
              <a:t>CUENTAS LINUX Y MEMBRESÍAS DEPARTAMENTALES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25880" y="960120"/>
            <a:ext cx="9646920" cy="1"/>
          </a:xfrm>
          <a:prstGeom prst="line">
            <a:avLst/>
          </a:prstGeom>
          <a:noFill/>
          <a:ln w="12700">
            <a:solidFill>
              <a:srgbClr val="D6CA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0352" y="63367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91146"/>
                </a:solidFill>
              </a:rPr>
              <a:t>P2.1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469880" y="618134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1146"/>
                </a:solidFill>
              </a:rPr>
              <a:t>UCJC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55480" y="638251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46192D"/>
                </a:solidFill>
              </a:rPr>
              <a:t>Universidad Camilo José Cela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749808" y="1207008"/>
            <a:ext cx="5266944" cy="3255264"/>
          </a:xfrm>
          <a:prstGeom prst="rect">
            <a:avLst/>
          </a:prstGeom>
          <a:solidFill>
            <a:srgbClr val="FFFFFF"/>
          </a:solidFill>
          <a:ln w="10160">
            <a:solidFill>
              <a:srgbClr val="C9CDD1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1" name="Image 0" descr="/mnt/data/p2_work/p2_images/img-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83362"/>
            <a:ext cx="5212080" cy="110255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448056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7078"/>
                </a:solidFill>
              </a:rPr>
              <a:t>Alta de usuarios y asignación de grupos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6190488" y="1207008"/>
            <a:ext cx="5266944" cy="3255264"/>
          </a:xfrm>
          <a:prstGeom prst="rect">
            <a:avLst/>
          </a:prstGeom>
          <a:solidFill>
            <a:srgbClr val="FFFFFF"/>
          </a:solidFill>
          <a:ln w="10160">
            <a:solidFill>
              <a:srgbClr val="C9CDD1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4" name="Image 1" descr="/mnt/data/p2_work/p2_images/img-0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31557"/>
            <a:ext cx="5212080" cy="180616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17920" y="448056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7078"/>
                </a:solidFill>
              </a:rPr>
              <a:t>Verificación de grupos del usuario C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822960" y="4892040"/>
            <a:ext cx="342900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891146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987552" y="5001768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91146"/>
                </a:solidFill>
              </a:rPr>
              <a:t>Usuario A · Jaime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987552" y="5276088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6192D"/>
                </a:solidFill>
              </a:rPr>
              <a:t>Grupos mecanica y proyecto. Responsable del área de mecánica.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389120" y="4892040"/>
            <a:ext cx="342900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2F8663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4553712" y="5001768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8663"/>
                </a:solidFill>
              </a:rPr>
              <a:t>Usuario B · Eduardo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553712" y="5276088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6192D"/>
                </a:solidFill>
              </a:rPr>
              <a:t>Grupos avionica, software y proyecto. Responsable de aviónica y software.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7955280" y="4892040"/>
            <a:ext cx="342900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B47A1F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8119872" y="5001768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7A1F"/>
                </a:solidFill>
              </a:rPr>
              <a:t>Usuario C · Hugo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8119872" y="5276088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6192D"/>
                </a:solidFill>
              </a:rPr>
              <a:t>Grupos compras y proyecto. Responsable de compras y configuración.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658368" cy="530352"/>
          </a:xfrm>
          <a:prstGeom prst="rect">
            <a:avLst/>
          </a:prstGeom>
          <a:solidFill>
            <a:srgbClr val="891146"/>
          </a:solidFill>
          <a:ln w="12700">
            <a:solidFill>
              <a:srgbClr val="8911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389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25880" y="30175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891146"/>
                </a:solidFill>
              </a:rPr>
              <a:t>Permisos DAC: prueba del modo 751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53312" y="713232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46192D"/>
                </a:solidFill>
              </a:rPr>
              <a:t>INTERPRETACIÓN DE R, W Y X EN DIRECTORIOS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25880" y="960120"/>
            <a:ext cx="9646920" cy="1"/>
          </a:xfrm>
          <a:prstGeom prst="line">
            <a:avLst/>
          </a:prstGeom>
          <a:noFill/>
          <a:ln w="12700">
            <a:solidFill>
              <a:srgbClr val="D6CA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0352" y="63367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91146"/>
                </a:solidFill>
              </a:rPr>
              <a:t>P2.1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469880" y="618134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1146"/>
                </a:solidFill>
              </a:rPr>
              <a:t>UCJC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55480" y="638251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46192D"/>
                </a:solidFill>
              </a:rPr>
              <a:t>Universidad Camilo José Cela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795528" y="1298448"/>
            <a:ext cx="5724144" cy="3483864"/>
          </a:xfrm>
          <a:prstGeom prst="rect">
            <a:avLst/>
          </a:prstGeom>
          <a:solidFill>
            <a:srgbClr val="FFFFFF"/>
          </a:solidFill>
          <a:ln w="10160">
            <a:solidFill>
              <a:srgbClr val="C9CDD1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1" name="Image 0" descr="/mnt/data/p2_work/p2_images/img-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8079"/>
            <a:ext cx="5669280" cy="196460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480060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7078"/>
                </a:solidFill>
              </a:rPr>
              <a:t>Comprobación de permisos 751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6903720" y="1417320"/>
            <a:ext cx="39776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89114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068312" y="1527048"/>
            <a:ext cx="3648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91146"/>
                </a:solidFill>
              </a:rPr>
              <a:t>Propietario · 7 · rwx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068312" y="1801368"/>
            <a:ext cx="3648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6192D"/>
                </a:solidFill>
              </a:rPr>
              <a:t>Puede listar, atravesar y modificar entradas.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903720" y="2560320"/>
            <a:ext cx="39776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2F866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068312" y="2670048"/>
            <a:ext cx="3648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8663"/>
                </a:solidFill>
              </a:rPr>
              <a:t>Grupo · 5 · r-x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068312" y="2944368"/>
            <a:ext cx="3648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6192D"/>
                </a:solidFill>
              </a:rPr>
              <a:t>Puede listar y atravesar, pero no escribir.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903720" y="3703320"/>
            <a:ext cx="39776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B47A1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068312" y="3813048"/>
            <a:ext cx="3648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7A1F"/>
                </a:solidFill>
              </a:rPr>
              <a:t>Otros · 1 · --x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068312" y="4087368"/>
            <a:ext cx="3648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6192D"/>
                </a:solidFill>
              </a:rPr>
              <a:t>Puede atravesar una ruta conocida, sin listar.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903720" y="50749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6192D"/>
                </a:solidFill>
              </a:rPr>
              <a:t>En un directorio, x significa permiso de recorrido, no ejecución de un programa.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658368" cy="530352"/>
          </a:xfrm>
          <a:prstGeom prst="rect">
            <a:avLst/>
          </a:prstGeom>
          <a:solidFill>
            <a:srgbClr val="891146"/>
          </a:solidFill>
          <a:ln w="12700">
            <a:solidFill>
              <a:srgbClr val="8911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389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25880" y="30175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891146"/>
                </a:solidFill>
              </a:rPr>
              <a:t>Política de accesos por departamentos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53312" y="713232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46192D"/>
                </a:solidFill>
              </a:rPr>
              <a:t>COMBINACIÓN DE DAC Y ACL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25880" y="960120"/>
            <a:ext cx="9646920" cy="1"/>
          </a:xfrm>
          <a:prstGeom prst="line">
            <a:avLst/>
          </a:prstGeom>
          <a:noFill/>
          <a:ln w="12700">
            <a:solidFill>
              <a:srgbClr val="D6CA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0352" y="63367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91146"/>
                </a:solidFill>
              </a:rPr>
              <a:t>P2.1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469880" y="618134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1146"/>
                </a:solidFill>
              </a:rPr>
              <a:t>UCJC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55480" y="638251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46192D"/>
                </a:solidFill>
              </a:rPr>
              <a:t>Universidad Camilo José Cela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749808" y="1207008"/>
            <a:ext cx="5358384" cy="3346704"/>
          </a:xfrm>
          <a:prstGeom prst="rect">
            <a:avLst/>
          </a:prstGeom>
          <a:solidFill>
            <a:srgbClr val="FFFFFF"/>
          </a:solidFill>
          <a:ln w="10160">
            <a:solidFill>
              <a:srgbClr val="C9CDD1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1" name="Image 0" descr="/mnt/data/p2_work/p2_images/img-0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40095"/>
            <a:ext cx="5303520" cy="10805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457200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7078"/>
                </a:solidFill>
              </a:rPr>
              <a:t>ACL del miembro A sobre mecánica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6190488" y="1207008"/>
            <a:ext cx="5221224" cy="3346704"/>
          </a:xfrm>
          <a:prstGeom prst="rect">
            <a:avLst/>
          </a:prstGeom>
          <a:solidFill>
            <a:srgbClr val="FFFFFF"/>
          </a:solidFill>
          <a:ln w="10160">
            <a:solidFill>
              <a:srgbClr val="C9CDD1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4" name="Image 1" descr="/mnt/data/p2_work/p2_images/img-0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90211"/>
            <a:ext cx="5166360" cy="218029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17920" y="4572000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7078"/>
                </a:solidFill>
              </a:rPr>
              <a:t>ACL y permisos del miembro B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960120" y="4892040"/>
            <a:ext cx="301752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891146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1124712" y="5001768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91146"/>
                </a:solidFill>
              </a:rPr>
              <a:t>DAC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1124712" y="5276088"/>
            <a:ext cx="2688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6192D"/>
                </a:solidFill>
              </a:rPr>
              <a:t>Define propietario, grupo y permisos para otros.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160520" y="4892040"/>
            <a:ext cx="365760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2F8663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4325112" y="5001768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8663"/>
                </a:solidFill>
              </a:rPr>
              <a:t>ACL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325112" y="5276088"/>
            <a:ext cx="3328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6192D"/>
                </a:solidFill>
              </a:rPr>
              <a:t>Añade excepciones nominativas sin abrir el recurso a todos.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8001000" y="4892040"/>
            <a:ext cx="315468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B47A1F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8165592" y="5001768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7A1F"/>
                </a:solidFill>
              </a:rPr>
              <a:t>SGID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8165592" y="5276088"/>
            <a:ext cx="2825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6192D"/>
                </a:solidFill>
              </a:rPr>
              <a:t>Con 2770, las nuevas entradas conservan el grupo del directorio.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658368" cy="530352"/>
          </a:xfrm>
          <a:prstGeom prst="rect">
            <a:avLst/>
          </a:prstGeom>
          <a:solidFill>
            <a:srgbClr val="891146"/>
          </a:solidFill>
          <a:ln w="12700">
            <a:solidFill>
              <a:srgbClr val="8911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389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25880" y="30175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891146"/>
                </a:solidFill>
              </a:rPr>
              <a:t>Miembro A · Mecánica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53312" y="713232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46192D"/>
                </a:solidFill>
              </a:rPr>
              <a:t>PROPIEDAD, ACL DE LECTURA Y VALIDACIÓN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25880" y="960120"/>
            <a:ext cx="9646920" cy="1"/>
          </a:xfrm>
          <a:prstGeom prst="line">
            <a:avLst/>
          </a:prstGeom>
          <a:noFill/>
          <a:ln w="12700">
            <a:solidFill>
              <a:srgbClr val="D6CA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0352" y="63367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91146"/>
                </a:solidFill>
              </a:rPr>
              <a:t>P2.1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469880" y="618134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1146"/>
                </a:solidFill>
              </a:rPr>
              <a:t>UCJC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55480" y="638251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46192D"/>
                </a:solidFill>
              </a:rPr>
              <a:t>Universidad Camilo José Cela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749808" y="1207008"/>
            <a:ext cx="5266944" cy="3255264"/>
          </a:xfrm>
          <a:prstGeom prst="rect">
            <a:avLst/>
          </a:prstGeom>
          <a:solidFill>
            <a:srgbClr val="FFFFFF"/>
          </a:solidFill>
          <a:ln w="10160">
            <a:solidFill>
              <a:srgbClr val="C9CDD1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1" name="Image 0" descr="/mnt/data/p2_work/p2_images/img-0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03690"/>
            <a:ext cx="5212080" cy="10619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448056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7078"/>
                </a:solidFill>
              </a:rPr>
              <a:t>ACL en ingeniería/mecánica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6190488" y="1207008"/>
            <a:ext cx="5266944" cy="3255264"/>
          </a:xfrm>
          <a:prstGeom prst="rect">
            <a:avLst/>
          </a:prstGeom>
          <a:solidFill>
            <a:srgbClr val="FFFFFF"/>
          </a:solidFill>
          <a:ln w="10160">
            <a:solidFill>
              <a:srgbClr val="C9CDD1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4" name="Image 1" descr="/mnt/data/p2_work/p2_images/img-03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39607"/>
            <a:ext cx="5212080" cy="199006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17920" y="448056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7078"/>
                </a:solidFill>
              </a:rPr>
              <a:t>Pruebas permitidas y rechazadas de usuario_a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1097280" y="4800600"/>
            <a:ext cx="97840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46192D"/>
                </a:solidFill>
              </a:rPr>
              <a:t>usuario_a puede crear archivos en mecánica.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46192D"/>
                </a:solidFill>
              </a:rPr>
              <a:t>usuario_b recibe lectura mediante ACL r-x.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46192D"/>
                </a:solidFill>
              </a:rPr>
              <a:t>usuario_a no puede crear en compras/pedidos.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46192D"/>
                </a:solidFill>
              </a:rPr>
              <a:t>El acceso a confidencial queda denegado.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658368" cy="530352"/>
          </a:xfrm>
          <a:prstGeom prst="rect">
            <a:avLst/>
          </a:prstGeom>
          <a:solidFill>
            <a:srgbClr val="891146"/>
          </a:solidFill>
          <a:ln w="12700">
            <a:solidFill>
              <a:srgbClr val="8911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389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25880" y="30175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891146"/>
                </a:solidFill>
              </a:rPr>
              <a:t>Miembro B · Aviónica y software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53312" y="713232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46192D"/>
                </a:solidFill>
              </a:rPr>
              <a:t>SGID, ESCRITURA PROPIA Y LECTURA CRUZADA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25880" y="960120"/>
            <a:ext cx="9646920" cy="1"/>
          </a:xfrm>
          <a:prstGeom prst="line">
            <a:avLst/>
          </a:prstGeom>
          <a:noFill/>
          <a:ln w="12700">
            <a:solidFill>
              <a:srgbClr val="D6CA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0352" y="63367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91146"/>
                </a:solidFill>
              </a:rPr>
              <a:t>P2.1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469880" y="618134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1146"/>
                </a:solidFill>
              </a:rPr>
              <a:t>UCJC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55480" y="638251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46192D"/>
                </a:solidFill>
              </a:rPr>
              <a:t>Universidad Camilo José Cela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749808" y="1207008"/>
            <a:ext cx="5266944" cy="3255264"/>
          </a:xfrm>
          <a:prstGeom prst="rect">
            <a:avLst/>
          </a:prstGeom>
          <a:solidFill>
            <a:srgbClr val="FFFFFF"/>
          </a:solidFill>
          <a:ln w="10160">
            <a:solidFill>
              <a:srgbClr val="C9CDD1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1" name="Image 0" descr="/mnt/data/p2_work/p2_images/img-0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20253"/>
            <a:ext cx="5212080" cy="162877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448056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7078"/>
                </a:solidFill>
              </a:rPr>
              <a:t>Escritura en aviónica y software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6190488" y="1207008"/>
            <a:ext cx="5266944" cy="3255264"/>
          </a:xfrm>
          <a:prstGeom prst="rect">
            <a:avLst/>
          </a:prstGeom>
          <a:solidFill>
            <a:srgbClr val="FFFFFF"/>
          </a:solidFill>
          <a:ln w="10160">
            <a:solidFill>
              <a:srgbClr val="C9CDD1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4" name="Image 1" descr="/mnt/data/p2_work/p2_images/img-03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400300"/>
            <a:ext cx="5212080" cy="8686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17920" y="448056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7078"/>
                </a:solidFill>
              </a:rPr>
              <a:t>Lectura permitida y escritura denegada en mecánica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1051560" y="4800600"/>
            <a:ext cx="99669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46192D"/>
                </a:solidFill>
              </a:rPr>
              <a:t>Aviónica y Software usan permisos 2770.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46192D"/>
                </a:solidFill>
              </a:rPr>
              <a:t>El bit SGID conserva los grupos avionica y software.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46192D"/>
                </a:solidFill>
              </a:rPr>
              <a:t>usuario_b puede escribir en sus dos áreas.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46192D"/>
                </a:solidFill>
              </a:rPr>
              <a:t>En mecánica solo puede leer mediante ACL; la escritura se rechaza.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658368" cy="530352"/>
          </a:xfrm>
          <a:prstGeom prst="rect">
            <a:avLst/>
          </a:prstGeom>
          <a:solidFill>
            <a:srgbClr val="891146"/>
          </a:solidFill>
          <a:ln w="12700">
            <a:solidFill>
              <a:srgbClr val="8911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389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25880" y="30175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891146"/>
                </a:solidFill>
              </a:rPr>
              <a:t>Miembro C · Compras y configuración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53312" y="713232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46192D"/>
                </a:solidFill>
              </a:rPr>
              <a:t>COMPRAS, DOCUMENTACIÓN COMÚN Y FACTURAS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25880" y="960120"/>
            <a:ext cx="9646920" cy="1"/>
          </a:xfrm>
          <a:prstGeom prst="line">
            <a:avLst/>
          </a:prstGeom>
          <a:noFill/>
          <a:ln w="12700">
            <a:solidFill>
              <a:srgbClr val="D6CA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0352" y="63367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91146"/>
                </a:solidFill>
              </a:rPr>
              <a:t>P2.1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469880" y="618134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1146"/>
                </a:solidFill>
              </a:rPr>
              <a:t>UCJC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55480" y="638251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46192D"/>
                </a:solidFill>
              </a:rPr>
              <a:t>Universidad Camilo José Cela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658368" y="1207008"/>
            <a:ext cx="3712464" cy="25237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CDD1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1" name="Image 0" descr="/mnt/data/p2_work/p2_images/img-0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9795"/>
            <a:ext cx="3657600" cy="117816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37490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7078"/>
                </a:solidFill>
              </a:rPr>
              <a:t>Compras con modo 2770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498848" y="1207008"/>
            <a:ext cx="3483864" cy="25237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CDD1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4" name="Image 1" descr="/mnt/data/p2_work/p2_images/img-03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910137"/>
            <a:ext cx="3429000" cy="111748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26280" y="374904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7078"/>
                </a:solidFill>
              </a:rPr>
              <a:t>Lectura en documentación común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8110728" y="1207008"/>
            <a:ext cx="3438144" cy="2523744"/>
          </a:xfrm>
          <a:prstGeom prst="rect">
            <a:avLst/>
          </a:prstGeom>
          <a:solidFill>
            <a:srgbClr val="FFFFFF"/>
          </a:solidFill>
          <a:ln w="10160">
            <a:solidFill>
              <a:srgbClr val="C9CDD1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7" name="Image 2" descr="/mnt/data/p2_work/p2_images/img-03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944921"/>
            <a:ext cx="3383280" cy="104791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38160" y="37490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7078"/>
                </a:solidFill>
              </a:rPr>
              <a:t>Pruebas finales del usuario C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822960" y="4160520"/>
            <a:ext cx="333756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2F8663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987552" y="4270248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8663"/>
                </a:solidFill>
              </a:rPr>
              <a:t>Compras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987552" y="4544568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6192D"/>
                </a:solidFill>
              </a:rPr>
              <a:t>Puede crear archivos en su departamento.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434840" y="4160520"/>
            <a:ext cx="32918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B47A1F"/>
            </a:solidFill>
            <a:prstDash val="solid"/>
          </a:ln>
        </p:spPr>
        <p:txBody>
          <a:bodyPr/>
          <a:p/>
        </p:txBody>
      </p:sp>
      <p:sp>
        <p:nvSpPr>
          <p:cNvPr id="23" name="Text 18"/>
          <p:cNvSpPr/>
          <p:nvPr/>
        </p:nvSpPr>
        <p:spPr>
          <a:xfrm>
            <a:off x="4599432" y="4270248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7A1F"/>
                </a:solidFill>
              </a:rPr>
              <a:t>Documentación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599432" y="4544568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6192D"/>
                </a:solidFill>
              </a:rPr>
              <a:t>Puede leer, pero la escritura está denegada.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7909560" y="4160520"/>
            <a:ext cx="347472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891146"/>
            </a:solidFill>
            <a:prstDash val="solid"/>
          </a:ln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8074152" y="4270248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91146"/>
                </a:solidFill>
              </a:rPr>
              <a:t>Facturas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8074152" y="4544568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6192D"/>
                </a:solidFill>
              </a:rPr>
              <a:t>ACL nominativa: lectura permitida y escritura bloqueada.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2834640" y="5303520"/>
            <a:ext cx="649224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A54848"/>
            </a:solidFill>
            <a:prstDash val="solid"/>
          </a:ln>
        </p:spPr>
        <p:txBody>
          <a:bodyPr/>
          <a:p/>
        </p:txBody>
      </p:sp>
      <p:sp>
        <p:nvSpPr>
          <p:cNvPr id="29" name="Text 24"/>
          <p:cNvSpPr/>
          <p:nvPr/>
        </p:nvSpPr>
        <p:spPr>
          <a:xfrm>
            <a:off x="2999232" y="5413248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48"/>
                </a:solidFill>
              </a:rPr>
              <a:t>Confidencial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2999232" y="5687568"/>
            <a:ext cx="61630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6192D"/>
                </a:solidFill>
              </a:rPr>
              <a:t>Permisos 700: acceso reservado a administración.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658368" cy="530352"/>
          </a:xfrm>
          <a:prstGeom prst="rect">
            <a:avLst/>
          </a:prstGeom>
          <a:solidFill>
            <a:srgbClr val="891146"/>
          </a:solidFill>
          <a:ln w="12700">
            <a:solidFill>
              <a:srgbClr val="8911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389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25880" y="30175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891146"/>
                </a:solidFill>
              </a:rPr>
              <a:t>Validación individual de permisos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53312" y="713232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46192D"/>
                </a:solidFill>
              </a:rPr>
              <a:t>PRUEBAS EJECUTADAS SIN SUDO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25880" y="960120"/>
            <a:ext cx="9646920" cy="1"/>
          </a:xfrm>
          <a:prstGeom prst="line">
            <a:avLst/>
          </a:prstGeom>
          <a:noFill/>
          <a:ln w="12700">
            <a:solidFill>
              <a:srgbClr val="D6CA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0352" y="63367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91146"/>
                </a:solidFill>
              </a:rPr>
              <a:t>P2.1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469880" y="618134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1146"/>
                </a:solidFill>
              </a:rPr>
              <a:t>UCJC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55480" y="638251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46192D"/>
                </a:solidFill>
              </a:rPr>
              <a:t>Universidad Camilo José Cela</a:t>
            </a:r>
            <a:endParaRPr lang="en-US" sz="5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371600"/>
          <a:ext cx="10469880" cy="3154680"/>
        </p:xfrm>
        <a:graphic>
          <a:graphicData uri="http://schemas.openxmlformats.org/drawingml/2006/table">
            <a:tbl>
              <a:tblPr/>
              <a:tblGrid>
                <a:gridCol w="1645920"/>
                <a:gridCol w="4114800"/>
                <a:gridCol w="47091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619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Miembro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619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Permitido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619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Denegado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619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· Mecánica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619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Crear en mecánica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619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Pedidos y confidencial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619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 · Aviónica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619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Escribir en aviónica/software; leer mecánica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619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Escribir en mecánica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619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 · Compras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619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Crear en compras; leer documentación y facturas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619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Escribir en documentación/facturas; mecánica; confidencial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A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68680" y="1371600"/>
            <a:ext cx="10469880" cy="594360"/>
          </a:xfrm>
          <a:prstGeom prst="rect">
            <a:avLst/>
          </a:prstGeom>
          <a:solidFill>
            <a:srgbClr val="891146"/>
          </a:solidFill>
          <a:ln w="12700">
            <a:solidFill>
              <a:srgbClr val="89114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005840" y="15727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MIEMBRO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14600" y="15727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OPERACIONES PERMITIDAS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37960" y="15727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OPERACIONES DENEGADAS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463040" y="4983480"/>
            <a:ext cx="92354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F8663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627632" y="5093208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8663"/>
                </a:solidFill>
              </a:rPr>
              <a:t>Resultado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627632" y="5367528"/>
            <a:ext cx="8906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6192D"/>
                </a:solidFill>
              </a:rPr>
              <a:t>Los permisos se validaron desde las identidades reales de trabajo. Los “Permission denied” esperados demuestran que la política está funcionando.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658368" cy="530352"/>
          </a:xfrm>
          <a:prstGeom prst="rect">
            <a:avLst/>
          </a:prstGeom>
          <a:solidFill>
            <a:srgbClr val="891146"/>
          </a:solidFill>
          <a:ln w="12700">
            <a:solidFill>
              <a:srgbClr val="8911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389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25880" y="30175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891146"/>
                </a:solidFill>
              </a:rPr>
              <a:t>Incidencias y soluciones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53312" y="713232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46192D"/>
                </a:solidFill>
              </a:rPr>
              <a:t>ERRORES DETECTADOS DURANTE LA CONFIGURACIÓN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25880" y="960120"/>
            <a:ext cx="9646920" cy="1"/>
          </a:xfrm>
          <a:prstGeom prst="line">
            <a:avLst/>
          </a:prstGeom>
          <a:noFill/>
          <a:ln w="12700">
            <a:solidFill>
              <a:srgbClr val="D6CA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0352" y="63367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91146"/>
                </a:solidFill>
              </a:rPr>
              <a:t>P2.1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469880" y="618134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1146"/>
                </a:solidFill>
              </a:rPr>
              <a:t>UCJC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55480" y="638251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46192D"/>
                </a:solidFill>
              </a:rPr>
              <a:t>Universidad Camilo José Cela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704088" y="1161288"/>
            <a:ext cx="3483864" cy="2478024"/>
          </a:xfrm>
          <a:prstGeom prst="rect">
            <a:avLst/>
          </a:prstGeom>
          <a:solidFill>
            <a:srgbClr val="FFFFFF"/>
          </a:solidFill>
          <a:ln w="10160">
            <a:solidFill>
              <a:srgbClr val="C9CDD1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1" name="Image 0" descr="/mnt/data/p2_work/p2_images/img-0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84664"/>
            <a:ext cx="3429000" cy="16312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365760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7078"/>
                </a:solidFill>
              </a:rPr>
              <a:t>Árbol erróneo de 53 directorios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361688" y="1161288"/>
            <a:ext cx="3483864" cy="2478024"/>
          </a:xfrm>
          <a:prstGeom prst="rect">
            <a:avLst/>
          </a:prstGeom>
          <a:solidFill>
            <a:srgbClr val="FFFFFF"/>
          </a:solidFill>
          <a:ln w="10160">
            <a:solidFill>
              <a:srgbClr val="C9CDD1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4" name="Image 1" descr="/mnt/data/p2_work/p2_images/img-04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022795"/>
            <a:ext cx="3429000" cy="75500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0" y="365760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7078"/>
                </a:solidFill>
              </a:rPr>
              <a:t>setfacl no disponible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8019288" y="1161288"/>
            <a:ext cx="3483864" cy="2478024"/>
          </a:xfrm>
          <a:prstGeom prst="rect">
            <a:avLst/>
          </a:prstGeom>
          <a:solidFill>
            <a:srgbClr val="FFFFFF"/>
          </a:solidFill>
          <a:ln w="10160">
            <a:solidFill>
              <a:srgbClr val="C9CDD1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7" name="Image 2" descr="/mnt/data/p2_work/p2_images/img-04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604834"/>
            <a:ext cx="3429000" cy="15909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46720" y="365760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7078"/>
                </a:solidFill>
              </a:rPr>
              <a:t>Corrección de ruta y permisos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822960" y="4160520"/>
            <a:ext cx="32461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A54848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987552" y="4270248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48"/>
                </a:solidFill>
              </a:rPr>
              <a:t>Estructura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987552" y="4544568"/>
            <a:ext cx="29169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6192D"/>
                </a:solidFill>
              </a:rPr>
              <a:t>Se apartó el árbol incorrecto y se reconstruyó la jerarquía requerida.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480560" y="4160520"/>
            <a:ext cx="32461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B47A1F"/>
            </a:solidFill>
            <a:prstDash val="solid"/>
          </a:ln>
        </p:spPr>
        <p:txBody>
          <a:bodyPr/>
          <a:p/>
        </p:txBody>
      </p:sp>
      <p:sp>
        <p:nvSpPr>
          <p:cNvPr id="23" name="Text 18"/>
          <p:cNvSpPr/>
          <p:nvPr/>
        </p:nvSpPr>
        <p:spPr>
          <a:xfrm>
            <a:off x="4645152" y="4270248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7A1F"/>
                </a:solidFill>
              </a:rPr>
              <a:t>Herramientas ACL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645152" y="4544568"/>
            <a:ext cx="29169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6192D"/>
                </a:solidFill>
              </a:rPr>
              <a:t>Se instaló el paquete acl para disponer de setfacl y getfacl.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8138160" y="4160520"/>
            <a:ext cx="32461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2F8663"/>
            </a:solidFill>
            <a:prstDash val="solid"/>
          </a:ln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8302752" y="4270248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8663"/>
                </a:solidFill>
              </a:rPr>
              <a:t>Facturas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8302752" y="4544568"/>
            <a:ext cx="29169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6192D"/>
                </a:solidFill>
              </a:rPr>
              <a:t>Se corrigió factura → facturas y se distinguió entre permisos y ruta inexistente.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658368" cy="530352"/>
          </a:xfrm>
          <a:prstGeom prst="rect">
            <a:avLst/>
          </a:prstGeom>
          <a:solidFill>
            <a:srgbClr val="891146"/>
          </a:solidFill>
          <a:ln w="12700">
            <a:solidFill>
              <a:srgbClr val="8911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389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25880" y="30175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891146"/>
                </a:solidFill>
              </a:rPr>
              <a:t>Conclusiones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53312" y="713232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46192D"/>
                </a:solidFill>
              </a:rPr>
              <a:t>RESULTADO DE LA PRÁCTICA AURORA-6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25880" y="960120"/>
            <a:ext cx="9646920" cy="1"/>
          </a:xfrm>
          <a:prstGeom prst="line">
            <a:avLst/>
          </a:prstGeom>
          <a:noFill/>
          <a:ln w="12700">
            <a:solidFill>
              <a:srgbClr val="D6CA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0352" y="63367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91146"/>
                </a:solidFill>
              </a:rPr>
              <a:t>P2.1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469880" y="618134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1146"/>
                </a:solidFill>
              </a:rPr>
              <a:t>UCJC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55480" y="638251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46192D"/>
                </a:solidFill>
              </a:rPr>
              <a:t>Universidad Camilo José Cela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1005840" y="1325880"/>
            <a:ext cx="10058400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46192D"/>
                </a:solidFill>
              </a:rPr>
              <a:t>Se construyó una estructura compartida de 17 directorios en Ubuntu Server.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46192D"/>
                </a:solidFill>
              </a:rPr>
              <a:t>Los grupos simplificaron la autorización dentro de cada departamento.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46192D"/>
                </a:solidFill>
              </a:rPr>
              <a:t>Los permisos DAC permitieron interpretar propiedad, grupos y modos octales.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46192D"/>
                </a:solidFill>
              </a:rPr>
              <a:t>Las ACL resolvieron excepciones de lectura entre departamentos y sobre facturas.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46192D"/>
                </a:solidFill>
              </a:rPr>
              <a:t>Las pruebas con A, B y C sin sudo confirmaron accesos permitidos y denegados.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46192D"/>
                </a:solidFill>
              </a:rPr>
              <a:t>La infraestructura queda preparada para las prácticas P3, P4 y P5.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54480" y="5166360"/>
            <a:ext cx="905256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89114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719072" y="5276088"/>
            <a:ext cx="8723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91146"/>
                </a:solidFill>
              </a:rPr>
              <a:t>Resultado final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719072" y="5550408"/>
            <a:ext cx="8723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6192D"/>
                </a:solidFill>
              </a:rPr>
              <a:t>AURORA-6 dispone de una política coherente de mínimo privilegio, recursos compartidos controlados y zonas confidenciales protegidas.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Universidad Camilo José Cela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AURORA-6 · Práctica 2</dc:title>
  <dc:subject>Práctica 2: Sistema de archivos, comandos, usuarios y permisos</dc:subject>
  <dc:creator>Eduardo Ontiveros Martínez</dc:creator>
  <lastModifiedBy>Eduardo Ontiveros Martínez</lastModifiedBy>
  <revision>1</revision>
  <dcterms:created xsi:type="dcterms:W3CDTF">2026-10-20T18:21:03.7316084Z</dcterms:created>
  <dcterms:modified xsi:type="dcterms:W3CDTF">2026-10-20T18:21:03.7316084Z</dcterms:modified>
</coreProperties>
</file>